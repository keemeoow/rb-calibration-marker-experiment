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58368"/>
            <a:ext cx="4754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374AB"/>
                </a:solidFill>
                <a:latin typeface="NanumGothic"/>
              </a:rPr>
              <a:t>MULTI-CAMERA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42416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17212B"/>
                </a:solidFill>
                <a:latin typeface="NanumGothic"/>
              </a:rPr>
              <a:t>여러 카메라를 하나의 좌표계로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267712"/>
            <a:ext cx="960120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374AB"/>
                </a:solidFill>
                <a:latin typeface="NanumGothic"/>
              </a:rPr>
              <a:t>No-FK · Fixed-FK · Corrected-FK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852928"/>
            <a:ext cx="9601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3606B"/>
                </a:solidFill>
                <a:latin typeface="NanumGothic"/>
              </a:rPr>
              <a:t>쉬운 개념에서 시작해 목적함수와 보정 알고리즘까지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3950208"/>
            <a:ext cx="10332720" cy="114300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4187952"/>
            <a:ext cx="1463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3606B"/>
                </a:solidFill>
                <a:latin typeface="NanumGothic"/>
              </a:rPr>
              <a:t>발표의 질문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4114800"/>
            <a:ext cx="8138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7212B"/>
                </a:solidFill>
                <a:latin typeface="NanumGothic"/>
              </a:rPr>
              <a:t>같은 큐브를 본 여러 카메라의 좌표를 어떻게 하나로 합칠까?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4617720"/>
            <a:ext cx="8138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3606B"/>
                </a:solidFill>
                <a:latin typeface="NanumGothic"/>
              </a:rPr>
              <a:t>그리고 로봇 FK 정보는 사용하지 않을까, 그대로 믿을까, 보정해서 사용할까?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9224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3606B"/>
                </a:solidFill>
                <a:latin typeface="NanumGothic"/>
              </a:rPr>
              <a:t>MULTI-CAMERA CALIBRATION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06B"/>
                </a:solidFill>
                <a:latin typeface="NanumGothi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374AB"/>
                </a:solidFill>
                <a:latin typeface="NanumGothic"/>
              </a:rPr>
              <a:t>00 ·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12B"/>
                </a:solidFill>
                <a:latin typeface="NanumGothic"/>
              </a:rPr>
              <a:t>쉬운 이야기에서 상세 수식까지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16152"/>
            <a:ext cx="566928" cy="41148"/>
          </a:xfrm>
          <a:prstGeom prst="rect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3000" y="1600200"/>
            <a:ext cx="99212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7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9888" y="1764792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374AB"/>
                </a:solidFill>
                <a:latin typeface="Nanum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737360"/>
            <a:ext cx="12801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374AB"/>
                </a:solidFill>
                <a:latin typeface="NanumGothic"/>
              </a:rP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737360"/>
            <a:ext cx="7132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7212B"/>
                </a:solidFill>
                <a:latin typeface="NanumGothic"/>
              </a:rPr>
              <a:t>왜 카메라마다 답이 다른가?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2459736"/>
            <a:ext cx="99212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624328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5B6B7A"/>
                </a:solidFill>
                <a:latin typeface="Nanum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596896"/>
            <a:ext cx="12801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5B6B7A"/>
                </a:solidFill>
                <a:latin typeface="NanumGothic"/>
              </a:rPr>
              <a:t>언어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596896"/>
            <a:ext cx="7132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7212B"/>
                </a:solidFill>
                <a:latin typeface="NanumGothic"/>
              </a:rPr>
              <a:t>좌표계와 변환행렬 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319272"/>
            <a:ext cx="99212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3483864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F7D67"/>
                </a:solidFill>
                <a:latin typeface="Nanum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56432"/>
            <a:ext cx="12801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F7D67"/>
                </a:solidFill>
                <a:latin typeface="NanumGothic"/>
              </a:rPr>
              <a:t>원리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56432"/>
            <a:ext cx="7132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7212B"/>
                </a:solidFill>
                <a:latin typeface="NanumGothic"/>
              </a:rPr>
              <a:t>같은 큐브 자세로 합의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4178808"/>
            <a:ext cx="99212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7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89888" y="4343400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D17A22"/>
                </a:solidFill>
                <a:latin typeface="NanumGothi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315968"/>
            <a:ext cx="12801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D17A22"/>
                </a:solidFill>
                <a:latin typeface="NanumGothic"/>
              </a:rPr>
              <a:t>방법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4315968"/>
            <a:ext cx="7132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7212B"/>
                </a:solidFill>
                <a:latin typeface="NanumGothic"/>
              </a:rPr>
              <a:t>No / Fixed / Corrected-FK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038344"/>
            <a:ext cx="99212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89888" y="5202936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8064A2"/>
                </a:solidFill>
                <a:latin typeface="NanumGothic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175504"/>
            <a:ext cx="12801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8064A2"/>
                </a:solidFill>
                <a:latin typeface="NanumGothic"/>
              </a:rPr>
              <a:t>상세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5175504"/>
            <a:ext cx="7132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7212B"/>
                </a:solidFill>
                <a:latin typeface="NanumGothic"/>
              </a:rPr>
              <a:t>목적함수 · gate · blend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9224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3606B"/>
                </a:solidFill>
                <a:latin typeface="NanumGothic"/>
              </a:rPr>
              <a:t>MULTI-CAMERA CALIBRATION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06B"/>
                </a:solidFill>
                <a:latin typeface="Nanum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374AB"/>
                </a:solidFill>
                <a:latin typeface="NanumGothic"/>
              </a:rPr>
              <a:t>01 ·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12B"/>
                </a:solidFill>
                <a:latin typeface="NanumGothic"/>
              </a:rPr>
              <a:t>같은 큐브인데 카메라마다 위치가 다르다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16152"/>
            <a:ext cx="566928" cy="41148"/>
          </a:xfrm>
          <a:prstGeom prst="rect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800600" cy="22860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17212B"/>
                </a:solidFill>
                <a:latin typeface="NanumGothic"/>
              </a:defRPr>
            </a:pPr>
            <a:r>
              <a:t>•  카메라 0: ‘큐브가 내 앞 50 cm에 있다.’</a:t>
            </a:r>
          </a:p>
          <a:p>
            <a:pPr>
              <a:spcAft>
                <a:spcPts val="1800"/>
              </a:spcAft>
              <a:defRPr sz="1900">
                <a:solidFill>
                  <a:srgbClr val="17212B"/>
                </a:solidFill>
                <a:latin typeface="NanumGothic"/>
              </a:defRPr>
            </a:pPr>
            <a:r>
              <a:t>•  카메라 1: ‘큐브가 내 오른쪽 30 cm에 있다.’</a:t>
            </a:r>
          </a:p>
          <a:p>
            <a:pPr>
              <a:spcAft>
                <a:spcPts val="1800"/>
              </a:spcAft>
              <a:defRPr sz="1900">
                <a:solidFill>
                  <a:srgbClr val="17212B"/>
                </a:solidFill>
                <a:latin typeface="NanumGothic"/>
              </a:defRPr>
            </a:pPr>
            <a:r>
              <a:t>•  그리퍼 카메라: ‘큐브가 내 아래 20 cm에 있다.’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00200"/>
            <a:ext cx="4800600" cy="2286000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237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74519"/>
            <a:ext cx="4160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2374AB"/>
                </a:solidFill>
                <a:latin typeface="NanumGothic"/>
              </a:rPr>
              <a:t>왜 모두 다른가?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578608"/>
            <a:ext cx="4160520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7212B"/>
                </a:solidFill>
                <a:latin typeface="NanumGothic"/>
              </a:rPr>
              <a:t>각 카메라가 자기 자신을 원점으로 사용하기 때문이다.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4343400"/>
            <a:ext cx="9601200" cy="1051560"/>
          </a:xfrm>
          <a:prstGeom prst="roundRect">
            <a:avLst/>
          </a:prstGeom>
          <a:solidFill>
            <a:srgbClr val="EAF4F0"/>
          </a:solidFill>
          <a:ln w="12700">
            <a:solidFill>
              <a:srgbClr val="2F7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4645152"/>
            <a:ext cx="1280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F7D67"/>
                </a:solidFill>
                <a:latin typeface="NanumGothic"/>
              </a:rPr>
              <a:t>필요한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4572000"/>
            <a:ext cx="74066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7212B"/>
                </a:solidFill>
                <a:latin typeface="NanumGothic"/>
              </a:rPr>
              <a:t>각 카메라의 좌표를 하나의 공통 좌표로 바꾸는 방법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9224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3606B"/>
                </a:solidFill>
                <a:latin typeface="NanumGothic"/>
              </a:rPr>
              <a:t>MULTI-CAMERA CALIBRATION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06B"/>
                </a:solidFill>
                <a:latin typeface="Nanum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374AB"/>
                </a:solidFill>
                <a:latin typeface="NanumGothic"/>
              </a:rPr>
              <a:t>01 ·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12B"/>
                </a:solidFill>
                <a:latin typeface="NanumGothic"/>
              </a:rPr>
              <a:t>캘리브레이션의 가장 쉬운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16152"/>
            <a:ext cx="566928" cy="41148"/>
          </a:xfrm>
          <a:prstGeom prst="rect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600200"/>
            <a:ext cx="10149840" cy="1005840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237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47088"/>
            <a:ext cx="95097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2374AB"/>
                </a:solidFill>
                <a:latin typeface="NanumGothic"/>
              </a:rPr>
              <a:t>Calibration = 서로 다른 좌표계 사이의 관계를 찾는 과정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154680"/>
            <a:ext cx="2011680" cy="566928"/>
          </a:xfrm>
          <a:prstGeom prst="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6464" y="3218688"/>
            <a:ext cx="1901952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5B6B7A"/>
                </a:solidFill>
                <a:latin typeface="NanumGothic"/>
              </a:rPr>
              <a:t>구분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3154680"/>
            <a:ext cx="4206240" cy="566928"/>
          </a:xfrm>
          <a:prstGeom prst="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38144" y="3218688"/>
            <a:ext cx="4096511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374AB"/>
                </a:solidFill>
                <a:latin typeface="NanumGothic"/>
              </a:rPr>
              <a:t>질문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3154680"/>
            <a:ext cx="3200400" cy="566928"/>
          </a:xfrm>
          <a:prstGeom prst="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44384" y="3218688"/>
            <a:ext cx="3090672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F7D67"/>
                </a:solidFill>
                <a:latin typeface="NanumGothic"/>
              </a:rPr>
              <a:t>이 프로젝트에서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721608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6464" y="3785616"/>
            <a:ext cx="1901952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내부 Intrinsic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3721608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38144" y="3785616"/>
            <a:ext cx="4096511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카메라 눈의 특성은?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3721608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44384" y="3785616"/>
            <a:ext cx="3090672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먼저 구해 놓고 사용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288536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6464" y="4352544"/>
            <a:ext cx="1901952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외부 Extrinsic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4288536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38144" y="4352544"/>
            <a:ext cx="4096511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고정 카메라가 어디에 있나?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4288536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44384" y="4352544"/>
            <a:ext cx="3090672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찾아야 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4855464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6464" y="4919472"/>
            <a:ext cx="1901952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Hand–Eye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4855464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38144" y="4919472"/>
            <a:ext cx="4096511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카메라가 그리퍼에 어떻게 붙었나?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20" y="4855464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44384" y="4919472"/>
            <a:ext cx="3090672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찾아야 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696712"/>
            <a:ext cx="7772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7212B"/>
                </a:solidFill>
                <a:latin typeface="NanumGothic"/>
              </a:rPr>
              <a:t>최종 공통 언어는 로봇 베이스 좌표계 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49224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3606B"/>
                </a:solidFill>
                <a:latin typeface="NanumGothic"/>
              </a:rPr>
              <a:t>MULTI-CAMERA CALIBRATION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06B"/>
                </a:solidFill>
                <a:latin typeface="NanumGothi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374AB"/>
                </a:solidFill>
                <a:latin typeface="NanumGothic"/>
              </a:rPr>
              <a:t>02 · COORDINATES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12B"/>
                </a:solidFill>
                <a:latin typeface="NanumGothic"/>
              </a:rPr>
              <a:t>좌표계 기호부터 정리한다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16152"/>
            <a:ext cx="566928" cy="41148"/>
          </a:xfrm>
          <a:prstGeom prst="rect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508760"/>
            <a:ext cx="1371600" cy="621792"/>
          </a:xfrm>
          <a:prstGeom prst="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97864" y="1572768"/>
            <a:ext cx="126187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374AB"/>
                </a:solidFill>
                <a:latin typeface="NanumGothic"/>
              </a:rPr>
              <a:t>기호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508760"/>
            <a:ext cx="2926080" cy="621792"/>
          </a:xfrm>
          <a:prstGeom prst="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9464" y="1572768"/>
            <a:ext cx="2816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5B6B7A"/>
                </a:solidFill>
                <a:latin typeface="NanumGothic"/>
              </a:rPr>
              <a:t>좌표계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5440680" y="1508760"/>
            <a:ext cx="5623560" cy="621792"/>
          </a:xfrm>
          <a:prstGeom prst="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95544" y="1572768"/>
            <a:ext cx="551383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F7D67"/>
                </a:solidFill>
                <a:latin typeface="NanumGothic"/>
              </a:rPr>
              <a:t>역할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2130552"/>
            <a:ext cx="1371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194560"/>
            <a:ext cx="126187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NanumGothic"/>
              </a:rPr>
              <a:t>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2130552"/>
            <a:ext cx="2926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9464" y="2194560"/>
            <a:ext cx="2816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NanumGothic"/>
              </a:rPr>
              <a:t>Robot 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0680" y="2130552"/>
            <a:ext cx="5623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95544" y="2194560"/>
            <a:ext cx="551383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NanumGothic"/>
              </a:rPr>
              <a:t>모든 결과를 표현할 최종 기준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2752344"/>
            <a:ext cx="1371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97864" y="2816352"/>
            <a:ext cx="126187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NanumGothic"/>
              </a:rPr>
              <a:t>Cᵢ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14600" y="2752344"/>
            <a:ext cx="2926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9464" y="2816352"/>
            <a:ext cx="2816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NanumGothic"/>
              </a:rPr>
              <a:t>Fixed camera 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40680" y="2752344"/>
            <a:ext cx="5623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95544" y="2816352"/>
            <a:ext cx="551383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NanumGothic"/>
              </a:rPr>
              <a:t>i번째 고정 카메라 좌표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3374136"/>
            <a:ext cx="1371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97864" y="3438144"/>
            <a:ext cx="126187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NanumGothic"/>
              </a:rPr>
              <a:t>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4600" y="3374136"/>
            <a:ext cx="2926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9464" y="3438144"/>
            <a:ext cx="2816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NanumGothic"/>
              </a:rPr>
              <a:t>Robot gripper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40680" y="3374136"/>
            <a:ext cx="5623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95544" y="3438144"/>
            <a:ext cx="551383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NanumGothic"/>
              </a:rPr>
              <a:t>움직이는 그리퍼 좌표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3995928"/>
            <a:ext cx="1371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97864" y="4059936"/>
            <a:ext cx="126187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NanumGothic"/>
              </a:rPr>
              <a:t>C𝗀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14600" y="3995928"/>
            <a:ext cx="2926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9464" y="4059936"/>
            <a:ext cx="2816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NanumGothic"/>
              </a:rPr>
              <a:t>Gripper camera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40680" y="3995928"/>
            <a:ext cx="5623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95544" y="4059936"/>
            <a:ext cx="551383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NanumGothic"/>
              </a:rPr>
              <a:t>그리퍼에 부착된 카메라 좌표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4617720"/>
            <a:ext cx="1371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97864" y="4681728"/>
            <a:ext cx="126187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NanumGothic"/>
              </a:rPr>
              <a:t>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14600" y="4617720"/>
            <a:ext cx="2926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9464" y="4681728"/>
            <a:ext cx="2816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NanumGothic"/>
              </a:rPr>
              <a:t>Object / cube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40680" y="4617720"/>
            <a:ext cx="5623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95544" y="4681728"/>
            <a:ext cx="551383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NanumGothic"/>
              </a:rPr>
              <a:t>공통으로 관측하는 캘리브레이션 타깃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828800" y="5532120"/>
            <a:ext cx="8549640" cy="59436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03120" y="5687568"/>
            <a:ext cx="8001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7212B"/>
                </a:solidFill>
                <a:latin typeface="NanumGothic"/>
              </a:rPr>
              <a:t>위 첨자 = 도착 좌표계   ·   아래 첨자 = 출발 좌표계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49224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3606B"/>
                </a:solidFill>
                <a:latin typeface="NanumGothic"/>
              </a:rPr>
              <a:t>MULTI-CAMERA CALIBRATION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06B"/>
                </a:solidFill>
                <a:latin typeface="NanumGoth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374AB"/>
                </a:solidFill>
                <a:latin typeface="NanumGothic"/>
              </a:rPr>
              <a:t>02 · TRANSFORM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12B"/>
                </a:solidFill>
                <a:latin typeface="NanumGothic"/>
              </a:rPr>
              <a:t>변환 T는 ‘돌리고 옮기는 좌표 변환기’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16152"/>
            <a:ext cx="566928" cy="41148"/>
          </a:xfrm>
          <a:prstGeom prst="rect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508760"/>
            <a:ext cx="10287000" cy="685800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237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o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460" y="1591055"/>
            <a:ext cx="5636319" cy="5212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2651760"/>
            <a:ext cx="36576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ransform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3331374"/>
            <a:ext cx="3438144" cy="6067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57800" y="2633472"/>
            <a:ext cx="5440680" cy="20574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1800"/>
              </a:spcAft>
              <a:defRPr sz="1700">
                <a:solidFill>
                  <a:srgbClr val="17212B"/>
                </a:solidFill>
                <a:latin typeface="NanumGothic"/>
              </a:defRPr>
            </a:pPr>
            <a:r>
              <a:t>•  R ∈ SO(3): 어느 방향을 보는지 나타내는 3×3 회전행렬</a:t>
            </a:r>
          </a:p>
          <a:p>
            <a:pPr>
              <a:spcAft>
                <a:spcPts val="1800"/>
              </a:spcAft>
              <a:defRPr sz="1700">
                <a:solidFill>
                  <a:srgbClr val="17212B"/>
                </a:solidFill>
                <a:latin typeface="NanumGothic"/>
              </a:defRPr>
            </a:pPr>
            <a:r>
              <a:t>•  t ∈ ℝ³: 어디에 있는지 나타내는 3×1 이동벡터</a:t>
            </a:r>
          </a:p>
          <a:p>
            <a:pPr>
              <a:spcAft>
                <a:spcPts val="1800"/>
              </a:spcAft>
              <a:defRPr sz="1700">
                <a:solidFill>
                  <a:srgbClr val="17212B"/>
                </a:solidFill>
                <a:latin typeface="NanumGothic"/>
              </a:defRPr>
            </a:pPr>
            <a:r>
              <a:t>•  행렬곱: 이동 경로를 차례로 연결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5074920"/>
            <a:ext cx="8183879" cy="82296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B8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ransform_produ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2674" y="5157216"/>
            <a:ext cx="6401891" cy="658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649224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3606B"/>
                </a:solidFill>
                <a:latin typeface="NanumGothic"/>
              </a:rPr>
              <a:t>MULTI-CAMERA CALIBRATION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06B"/>
                </a:solidFill>
                <a:latin typeface="Nanum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374AB"/>
                </a:solidFill>
                <a:latin typeface="NanumGothic"/>
              </a:rPr>
              <a:t>03 · FIXED CAMERA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12B"/>
                </a:solidFill>
                <a:latin typeface="NanumGothic"/>
              </a:rPr>
              <a:t>고정 카메라가 베이스 기준 큐브를 계산하는 경로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16152"/>
            <a:ext cx="566928" cy="41148"/>
          </a:xfrm>
          <a:prstGeom prst="rect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600200"/>
            <a:ext cx="10058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2374AB"/>
                </a:solidFill>
                <a:latin typeface="NanumGothic"/>
              </a:rPr>
              <a:t>베이스 → 고정 카메라 → 큐브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2331720"/>
            <a:ext cx="9921240" cy="1097280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237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xed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641" y="2414015"/>
            <a:ext cx="5189957" cy="9326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80160" y="4069080"/>
            <a:ext cx="2011680" cy="548640"/>
          </a:xfrm>
          <a:prstGeom prst="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35024" y="4133088"/>
            <a:ext cx="190195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374AB"/>
                </a:solidFill>
                <a:latin typeface="NanumGothic"/>
              </a:rPr>
              <a:t>항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4069080"/>
            <a:ext cx="4937760" cy="548640"/>
          </a:xfrm>
          <a:prstGeom prst="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6704" y="4133088"/>
            <a:ext cx="482803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5B6B7A"/>
                </a:solidFill>
                <a:latin typeface="NanumGothic"/>
              </a:rPr>
              <a:t>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4069080"/>
            <a:ext cx="2926080" cy="548640"/>
          </a:xfrm>
          <a:prstGeom prst="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4133088"/>
            <a:ext cx="281635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F7D67"/>
                </a:solidFill>
                <a:latin typeface="NanumGothic"/>
              </a:rPr>
              <a:t>상태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4617720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35024" y="4681728"/>
            <a:ext cx="190195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⁽ᴮ⁾T_Cᵢ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4617720"/>
            <a:ext cx="4937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46704" y="4681728"/>
            <a:ext cx="482803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베이스 → 고정 카메라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4617720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4" y="4681728"/>
            <a:ext cx="281635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찾아야 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5166359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35024" y="5230368"/>
            <a:ext cx="190195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⁽Cᵢ⁾T_O,s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5166359"/>
            <a:ext cx="4937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46704" y="5230368"/>
            <a:ext cx="482803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카메라가 PnP로 관측한 큐브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5166359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4464" y="5230368"/>
            <a:ext cx="281635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측정값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5714999"/>
            <a:ext cx="2011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35024" y="5779007"/>
            <a:ext cx="190195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⁽ᴮ⁾T_O,s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5714999"/>
            <a:ext cx="49377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46704" y="5779007"/>
            <a:ext cx="482803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베이스 기준 큐브 자세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5714999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84464" y="5779007"/>
            <a:ext cx="281635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FK 방식에 따라 다름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49224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3606B"/>
                </a:solidFill>
                <a:latin typeface="NanumGothic"/>
              </a:rPr>
              <a:t>MULTI-CAMERA CALIBRATION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06B"/>
                </a:solidFill>
                <a:latin typeface="Nanum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374AB"/>
                </a:solidFill>
                <a:latin typeface="NanumGothic"/>
              </a:rPr>
              <a:t>03 · GRIPPER CAMERA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12B"/>
                </a:solidFill>
                <a:latin typeface="NanumGothic"/>
              </a:rPr>
              <a:t>그리퍼 카메라는 움직이므로 경로가 하나 더 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16152"/>
            <a:ext cx="566928" cy="41148"/>
          </a:xfrm>
          <a:prstGeom prst="rect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600200"/>
            <a:ext cx="10058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D17A22"/>
                </a:solidFill>
                <a:latin typeface="NanumGothic"/>
              </a:rPr>
              <a:t>베이스 → 그리퍼 → 그리퍼 카메라 → 큐브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10561320" cy="1097280"/>
          </a:xfrm>
          <a:prstGeom prst="roundRect">
            <a:avLst/>
          </a:prstGeom>
          <a:solidFill>
            <a:srgbClr val="FBF0E5"/>
          </a:solidFill>
          <a:ln w="12700">
            <a:solidFill>
              <a:srgbClr val="D17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ripper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103" y="2414015"/>
            <a:ext cx="7031032" cy="9326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43000" y="4069080"/>
            <a:ext cx="2286000" cy="548640"/>
          </a:xfrm>
          <a:prstGeom prst="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97864" y="4133088"/>
            <a:ext cx="217627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D17A22"/>
                </a:solidFill>
                <a:latin typeface="NanumGothic"/>
              </a:rPr>
              <a:t>항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4069080"/>
            <a:ext cx="4572000" cy="548640"/>
          </a:xfrm>
          <a:prstGeom prst="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83864" y="4133088"/>
            <a:ext cx="446227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5B6B7A"/>
                </a:solidFill>
                <a:latin typeface="NanumGothic"/>
              </a:rPr>
              <a:t>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4069080"/>
            <a:ext cx="3017520" cy="548640"/>
          </a:xfrm>
          <a:prstGeom prst="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55864" y="4133088"/>
            <a:ext cx="2907791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F7D67"/>
                </a:solidFill>
                <a:latin typeface="NanumGothic"/>
              </a:rPr>
              <a:t>상태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4617720"/>
            <a:ext cx="2286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7864" y="4681728"/>
            <a:ext cx="217627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Gₑ = ⁽ᴮ⁾T_G,e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4617720"/>
            <a:ext cx="4572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83864" y="4681728"/>
            <a:ext cx="446227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촬영 순간 베이스 → 그리퍼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4617720"/>
            <a:ext cx="3017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55864" y="4681728"/>
            <a:ext cx="2907791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로봇 FK로 알고 있음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166359"/>
            <a:ext cx="2286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97864" y="5230368"/>
            <a:ext cx="217627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X = ⁽ᴳ⁾T_C𝗀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5166359"/>
            <a:ext cx="4572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83864" y="5230368"/>
            <a:ext cx="446227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그리퍼 → 그리퍼 카메라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5166359"/>
            <a:ext cx="3017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55864" y="5230368"/>
            <a:ext cx="2907791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찾아야 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5714999"/>
            <a:ext cx="2286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97864" y="5779007"/>
            <a:ext cx="217627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Z𝗀,e = ⁽C𝗀⁾T_O,e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29000" y="5714999"/>
            <a:ext cx="4572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83864" y="5779007"/>
            <a:ext cx="4462272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그리퍼 카메라의 큐브 관측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1000" y="5714999"/>
            <a:ext cx="3017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55864" y="5779007"/>
            <a:ext cx="2907791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측정값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49224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3606B"/>
                </a:solidFill>
                <a:latin typeface="NanumGothic"/>
              </a:rPr>
              <a:t>MULTI-CAMERA CALIBRATION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06B"/>
                </a:solidFill>
                <a:latin typeface="NanumGothi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374AB"/>
                </a:solidFill>
                <a:latin typeface="NanumGothic"/>
              </a:rPr>
              <a:t>03 · KNOWN / UNKNOWN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12B"/>
                </a:solidFill>
                <a:latin typeface="NanumGothic"/>
              </a:rPr>
              <a:t>알고 있는 값과 찾아야 하는 값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16152"/>
            <a:ext cx="566928" cy="41148"/>
          </a:xfrm>
          <a:prstGeom prst="rect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508760"/>
            <a:ext cx="4983480" cy="384048"/>
          </a:xfrm>
          <a:prstGeom prst="rect">
            <a:avLst/>
          </a:prstGeom>
          <a:solidFill>
            <a:srgbClr val="2F7D67"/>
          </a:solidFill>
          <a:ln w="12700">
            <a:solidFill>
              <a:srgbClr val="2F7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563624"/>
            <a:ext cx="483717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anumGothic"/>
              </a:rPr>
              <a:t>알고 있는 값 · 관측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800600" cy="2926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17212B"/>
                </a:solidFill>
                <a:latin typeface="NanumGothic"/>
              </a:defRPr>
            </a:pPr>
            <a:r>
              <a:t>•  Zᵢ,ₛ = ⁽Cᵢ⁾T_O,s · 고정 카메라 PnP</a:t>
            </a:r>
          </a:p>
          <a:p>
            <a:pPr>
              <a:spcAft>
                <a:spcPts val="1500"/>
              </a:spcAft>
              <a:defRPr sz="1600">
                <a:solidFill>
                  <a:srgbClr val="17212B"/>
                </a:solidFill>
                <a:latin typeface="NanumGothic"/>
              </a:defRPr>
            </a:pPr>
            <a:r>
              <a:t>•  Z𝗀,ₑ = ⁽C𝗀⁾T_O,e · 그리퍼 카메라 PnP</a:t>
            </a:r>
          </a:p>
          <a:p>
            <a:pPr>
              <a:spcAft>
                <a:spcPts val="1500"/>
              </a:spcAft>
              <a:defRPr sz="1600">
                <a:solidFill>
                  <a:srgbClr val="17212B"/>
                </a:solidFill>
                <a:latin typeface="NanumGothic"/>
              </a:defRPr>
            </a:pPr>
            <a:r>
              <a:t>•  Gₑ = ⁽ᴮ⁾T_G,e · 촬영 순간 로봇 자세</a:t>
            </a:r>
          </a:p>
          <a:p>
            <a:pPr>
              <a:spcAft>
                <a:spcPts val="1500"/>
              </a:spcAft>
              <a:defRPr sz="1600">
                <a:solidFill>
                  <a:srgbClr val="17212B"/>
                </a:solidFill>
                <a:latin typeface="NanumGothic"/>
              </a:defRPr>
            </a:pPr>
            <a:r>
              <a:t>•  Fₛ = ⁽ᴮ⁾T_O,s^FK · raw FK 큐브 prior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508760"/>
            <a:ext cx="4983480" cy="384048"/>
          </a:xfrm>
          <a:prstGeom prst="rect">
            <a:avLst/>
          </a:prstGeom>
          <a:solidFill>
            <a:srgbClr val="2374AB"/>
          </a:solidFill>
          <a:ln w="12700">
            <a:solidFill>
              <a:srgbClr val="237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563624"/>
            <a:ext cx="483717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anumGothic"/>
              </a:rPr>
              <a:t>찾아야 하는 값 · 미지수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4709160" cy="29260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17212B"/>
                </a:solidFill>
                <a:latin typeface="NanumGothic"/>
              </a:defRPr>
            </a:pPr>
            <a:r>
              <a:t>•  Cᵢ = ⁽ᴮ⁾T_Cᵢ · 고정 카메라 외부파라미터</a:t>
            </a:r>
          </a:p>
          <a:p>
            <a:pPr>
              <a:spcAft>
                <a:spcPts val="1500"/>
              </a:spcAft>
              <a:defRPr sz="1600">
                <a:solidFill>
                  <a:srgbClr val="17212B"/>
                </a:solidFill>
                <a:latin typeface="NanumGothic"/>
              </a:defRPr>
            </a:pPr>
            <a:r>
              <a:t>•  X = ⁽ᴳ⁾T_C𝗀 · hand–eye 변환</a:t>
            </a:r>
          </a:p>
          <a:p>
            <a:pPr>
              <a:spcAft>
                <a:spcPts val="1500"/>
              </a:spcAft>
              <a:defRPr sz="1600">
                <a:solidFill>
                  <a:srgbClr val="17212B"/>
                </a:solidFill>
                <a:latin typeface="NanumGothic"/>
              </a:defRPr>
            </a:pPr>
            <a:r>
              <a:t>•  Oₛ = ⁽ᴮ⁾T_O,s · set별 큐브 자세</a:t>
            </a:r>
          </a:p>
          <a:p>
            <a:pPr>
              <a:spcAft>
                <a:spcPts val="1500"/>
              </a:spcAft>
              <a:defRPr sz="1600">
                <a:solidFill>
                  <a:srgbClr val="17212B"/>
                </a:solidFill>
                <a:latin typeface="NanumGothic"/>
              </a:defRPr>
            </a:pPr>
            <a:r>
              <a:t>•  Oₛ를 어떻게 다루는지가 세 FK 방식의 차이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5257800"/>
            <a:ext cx="8549640" cy="658368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237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5431536"/>
            <a:ext cx="81838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374AB"/>
                </a:solidFill>
                <a:latin typeface="NanumGothic"/>
              </a:rPr>
              <a:t>No-FK여도 Gₑ는 사용한다. 사용하지 않는 것은 큐브 prior Fₛ이다.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9224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3606B"/>
                </a:solidFill>
                <a:latin typeface="NanumGothic"/>
              </a:rPr>
              <a:t>MULTI-CAMERA CALIBRATION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06B"/>
                </a:solidFill>
                <a:latin typeface="NanumGothi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374AB"/>
                </a:solidFill>
                <a:latin typeface="NanumGothic"/>
              </a:rPr>
              <a:t>04 · AGREEMENT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12B"/>
                </a:solidFill>
                <a:latin typeface="NanumGothic"/>
              </a:rPr>
              <a:t>같은 큐브를 봤다면 베이스 좌표에서 같아야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16152"/>
            <a:ext cx="566928" cy="41148"/>
          </a:xfrm>
          <a:prstGeom prst="rect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600200"/>
            <a:ext cx="4937760" cy="822960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237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xed_pre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320" y="1682496"/>
            <a:ext cx="2094478" cy="65836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600200"/>
            <a:ext cx="4937760" cy="822960"/>
          </a:xfrm>
          <a:prstGeom prst="roundRect">
            <a:avLst/>
          </a:prstGeom>
          <a:solidFill>
            <a:srgbClr val="FBF0E5"/>
          </a:solidFill>
          <a:ln w="12700">
            <a:solidFill>
              <a:srgbClr val="D17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ripper_predi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51" y="1682496"/>
            <a:ext cx="2788817" cy="658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2880360"/>
            <a:ext cx="19202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3606B"/>
                </a:solidFill>
                <a:latin typeface="NanumGothic"/>
              </a:rPr>
              <a:t>두 경로의 예측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474720"/>
            <a:ext cx="640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53606B"/>
                </a:solidFill>
                <a:latin typeface="Nanum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063240"/>
            <a:ext cx="3063240" cy="1234440"/>
          </a:xfrm>
          <a:prstGeom prst="roundRect">
            <a:avLst/>
          </a:prstGeom>
          <a:solidFill>
            <a:srgbClr val="EAF4F0"/>
          </a:solidFill>
          <a:ln w="12700">
            <a:solidFill>
              <a:srgbClr val="2F7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3456432"/>
            <a:ext cx="2423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F7D67"/>
                </a:solidFill>
                <a:latin typeface="NanumGothic"/>
              </a:rPr>
              <a:t>공통 큐브 자세 Qₛ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474720"/>
            <a:ext cx="6400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53606B"/>
                </a:solidFill>
                <a:latin typeface="NanumGothic"/>
              </a:rPr>
              <a:t>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2880360"/>
            <a:ext cx="19202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3606B"/>
                </a:solidFill>
                <a:latin typeface="NanumGothic"/>
              </a:rPr>
              <a:t>최대한 같은 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4800600"/>
            <a:ext cx="9921240" cy="804672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5010912"/>
            <a:ext cx="92811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7212B"/>
                </a:solidFill>
                <a:latin typeface="NanumGothic"/>
              </a:rPr>
              <a:t>캘리브레이션 = 모든 카메라의 큐브 예측이 공통 자세 Qₛ에 모이도록 미지수를 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9224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3606B"/>
                </a:solidFill>
                <a:latin typeface="NanumGothic"/>
              </a:rPr>
              <a:t>MULTI-CAMERA CALIBRATION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06B"/>
                </a:solidFill>
                <a:latin typeface="Nanum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374AB"/>
                </a:solidFill>
                <a:latin typeface="NanumGothic"/>
              </a:rPr>
              <a:t>04 ·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12B"/>
                </a:solidFill>
                <a:latin typeface="NanumGothic"/>
              </a:rPr>
              <a:t>두 자세가 얼마나 다른지를 숫자로 바꾼다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16152"/>
            <a:ext cx="566928" cy="41148"/>
          </a:xfrm>
          <a:prstGeom prst="rect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00200"/>
            <a:ext cx="9966960" cy="960120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237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psil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645" y="1682495"/>
            <a:ext cx="5212229" cy="7955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0160" y="2926080"/>
            <a:ext cx="5120640" cy="214884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17212B"/>
                </a:solidFill>
                <a:latin typeface="NanumGothic"/>
              </a:defRPr>
            </a:pPr>
            <a:r>
              <a:t>•  A와 B가 같으면 A⁻¹B = I, 따라서 오차는 0</a:t>
            </a:r>
          </a:p>
          <a:p>
            <a:pPr>
              <a:spcAft>
                <a:spcPts val="1800"/>
              </a:spcAft>
              <a:defRPr sz="1800">
                <a:solidFill>
                  <a:srgbClr val="17212B"/>
                </a:solidFill>
                <a:latin typeface="NanumGothic"/>
              </a:defRPr>
            </a:pPr>
            <a:r>
              <a:t>•  회전이 다르면 회전오차 3개가 생김</a:t>
            </a:r>
          </a:p>
          <a:p>
            <a:pPr>
              <a:spcAft>
                <a:spcPts val="1800"/>
              </a:spcAft>
              <a:defRPr sz="1800">
                <a:solidFill>
                  <a:srgbClr val="17212B"/>
                </a:solidFill>
                <a:latin typeface="NanumGothic"/>
              </a:defRPr>
            </a:pPr>
            <a:r>
              <a:t>•  위치가 다르면 이동오차 3개가 생김</a:t>
            </a:r>
          </a:p>
          <a:p>
            <a:pPr>
              <a:spcAft>
                <a:spcPts val="1800"/>
              </a:spcAft>
              <a:defRPr sz="1800">
                <a:solidFill>
                  <a:srgbClr val="17212B"/>
                </a:solidFill>
                <a:latin typeface="NanumGothic"/>
              </a:defRPr>
            </a:pPr>
            <a:r>
              <a:t>•  최종적으로 6개의 오차 숫자를 최소화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2926080"/>
            <a:ext cx="4069080" cy="214884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3218688"/>
            <a:ext cx="3429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53606B"/>
                </a:solidFill>
                <a:latin typeface="NanumGothic"/>
              </a:rPr>
              <a:t>읽는 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3767328"/>
            <a:ext cx="3429000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17212B"/>
                </a:solidFill>
                <a:latin typeface="NanumGothic"/>
              </a:rPr>
              <a:t>“A에서 B까지 남은 상대 회전과 상대 이동을 계산한다.”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9224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3606B"/>
                </a:solidFill>
                <a:latin typeface="NanumGothic"/>
              </a:rPr>
              <a:t>MULTI-CAMERA CALIBRATION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06B"/>
                </a:solidFill>
                <a:latin typeface="Nanum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374AB"/>
                </a:solidFill>
                <a:latin typeface="NanumGothic"/>
              </a:rPr>
              <a:t>04 · DETAILED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12B"/>
                </a:solidFill>
                <a:latin typeface="NanumGothic"/>
              </a:rPr>
              <a:t>상대 오차를 행렬 내부까지 펼쳐보면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16152"/>
            <a:ext cx="566928" cy="41148"/>
          </a:xfrm>
          <a:prstGeom prst="rect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561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lative_trans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584296"/>
            <a:ext cx="10341864" cy="99192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063240"/>
            <a:ext cx="10561320" cy="1417320"/>
          </a:xfrm>
          <a:prstGeom prst="roundRect">
            <a:avLst/>
          </a:prstGeom>
          <a:solidFill>
            <a:srgbClr val="F1EDF7"/>
          </a:solidFill>
          <a:ln w="1270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de_resid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373228"/>
            <a:ext cx="10341864" cy="79734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325880" y="4828032"/>
            <a:ext cx="2834640" cy="502920"/>
          </a:xfrm>
          <a:prstGeom prst="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0744" y="4892040"/>
            <a:ext cx="2724912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8064A2"/>
                </a:solidFill>
                <a:latin typeface="NanumGothic"/>
              </a:rPr>
              <a:t>잔차 성분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4828032"/>
            <a:ext cx="1371600" cy="502920"/>
          </a:xfrm>
          <a:prstGeom prst="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15383" y="4892040"/>
            <a:ext cx="1261872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B6B7A"/>
                </a:solidFill>
                <a:latin typeface="NanumGothic"/>
              </a:rPr>
              <a:t>개수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2120" y="4828032"/>
            <a:ext cx="1645920" cy="502920"/>
          </a:xfrm>
          <a:prstGeom prst="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86983" y="4892040"/>
            <a:ext cx="1536192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B6B7A"/>
                </a:solidFill>
                <a:latin typeface="NanumGothic"/>
              </a:rPr>
              <a:t>단위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4828032"/>
            <a:ext cx="3657600" cy="502920"/>
          </a:xfrm>
          <a:prstGeom prst="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3" y="4892040"/>
            <a:ext cx="3547872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F7D67"/>
                </a:solidFill>
                <a:latin typeface="NanumGothic"/>
              </a:rPr>
              <a:t>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5880" y="5330952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80744" y="5394960"/>
            <a:ext cx="2724912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7212B"/>
                </a:solidFill>
                <a:latin typeface="NanumGothic"/>
              </a:rPr>
              <a:t>RotVec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5330952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15383" y="5394960"/>
            <a:ext cx="1261872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7212B"/>
                </a:solidFill>
                <a:latin typeface="NanumGothic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2120" y="5330952"/>
            <a:ext cx="1645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86983" y="5394960"/>
            <a:ext cx="1536192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7212B"/>
                </a:solidFill>
                <a:latin typeface="NanumGothic"/>
              </a:rPr>
              <a:t>rad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5330952"/>
            <a:ext cx="3657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3" y="5394960"/>
            <a:ext cx="3547872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7212B"/>
                </a:solidFill>
                <a:latin typeface="NanumGothic"/>
              </a:rPr>
              <a:t>상대 회전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25880" y="5833872"/>
            <a:ext cx="28346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80744" y="5897880"/>
            <a:ext cx="2724912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7212B"/>
                </a:solidFill>
                <a:latin typeface="NanumGothic"/>
              </a:rPr>
              <a:t>Relative translation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5833872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15383" y="5897880"/>
            <a:ext cx="1261872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7212B"/>
                </a:solidFill>
                <a:latin typeface="NanumGothic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32120" y="5833872"/>
            <a:ext cx="1645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6983" y="5897880"/>
            <a:ext cx="1536192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7212B"/>
                </a:solidFill>
                <a:latin typeface="NanumGothic"/>
              </a:rPr>
              <a:t>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78040" y="5833872"/>
            <a:ext cx="3657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32903" y="5897880"/>
            <a:ext cx="3547872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7212B"/>
                </a:solidFill>
                <a:latin typeface="NanumGothic"/>
              </a:rPr>
              <a:t>상대 이동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6291072"/>
            <a:ext cx="9418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3606B"/>
                </a:solidFill>
                <a:latin typeface="NanumGothic"/>
              </a:rPr>
              <a:t>PPT에서는 ε=log(A⁻¹B)로 읽고, 현재 코드는 위의 6차원 r(A,B)를 사용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49224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3606B"/>
                </a:solidFill>
                <a:latin typeface="NanumGothic"/>
              </a:rPr>
              <a:t>MULTI-CAMERA CALIBRATION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06B"/>
                </a:solidFill>
                <a:latin typeface="Nanum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374AB"/>
                </a:solidFill>
                <a:latin typeface="NanumGothic"/>
              </a:rPr>
              <a:t>04 · COMMON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12B"/>
                </a:solidFill>
                <a:latin typeface="NanumGothic"/>
              </a:rPr>
              <a:t>세 방법이 공유하는 vision 목적함수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16152"/>
            <a:ext cx="566928" cy="41148"/>
          </a:xfrm>
          <a:prstGeom prst="rect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11201400" cy="123444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B8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v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621988"/>
            <a:ext cx="10981944" cy="100798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51560" y="3154680"/>
            <a:ext cx="2926080" cy="384048"/>
          </a:xfrm>
          <a:prstGeom prst="rect">
            <a:avLst/>
          </a:prstGeom>
          <a:solidFill>
            <a:srgbClr val="2374AB"/>
          </a:solidFill>
          <a:ln w="12700">
            <a:solidFill>
              <a:srgbClr val="237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3209544"/>
            <a:ext cx="277977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anumGothic"/>
              </a:rPr>
              <a:t>고정 카메라 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03320"/>
            <a:ext cx="29260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17212B"/>
                </a:solidFill>
                <a:latin typeface="NanumGothic"/>
              </a:rPr>
              <a:t>CᵢZᵢ,ₛ가 공통 큐브 자세 Qₛ와 가까워지게 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3154680"/>
            <a:ext cx="2926080" cy="384048"/>
          </a:xfrm>
          <a:prstGeom prst="rect">
            <a:avLst/>
          </a:prstGeom>
          <a:solidFill>
            <a:srgbClr val="D17A22"/>
          </a:solidFill>
          <a:ln w="12700">
            <a:solidFill>
              <a:srgbClr val="D17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3209544"/>
            <a:ext cx="277977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anumGothic"/>
              </a:rPr>
              <a:t>그리퍼 카메라 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703320"/>
            <a:ext cx="29260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17212B"/>
                </a:solidFill>
                <a:latin typeface="NanumGothic"/>
              </a:rPr>
              <a:t>GₑXZ𝗀,ₑ가 같은 set의 Qₛ와 가까워지게 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3154680"/>
            <a:ext cx="2926080" cy="384048"/>
          </a:xfrm>
          <a:prstGeom prst="rect">
            <a:avLst/>
          </a:prstGeom>
          <a:solidFill>
            <a:srgbClr val="2F7D67"/>
          </a:solidFill>
          <a:ln w="12700">
            <a:solidFill>
              <a:srgbClr val="2F7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3209544"/>
            <a:ext cx="277977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anumGothic"/>
              </a:rPr>
              <a:t>세 방법의 차이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703320"/>
            <a:ext cx="29260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17212B"/>
                </a:solidFill>
                <a:latin typeface="NanumGothic"/>
              </a:rPr>
              <a:t>Qₛ를 자유변수, raw FK, 보정 anchor 중 무엇으로 두는가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5166360"/>
            <a:ext cx="8549640" cy="731520"/>
          </a:xfrm>
          <a:prstGeom prst="roundRect">
            <a:avLst/>
          </a:prstGeom>
          <a:solidFill>
            <a:srgbClr val="EAF4F0"/>
          </a:solidFill>
          <a:ln w="12700">
            <a:solidFill>
              <a:srgbClr val="2F7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5367528"/>
            <a:ext cx="7909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2F7D67"/>
                </a:solidFill>
                <a:latin typeface="NanumGothic"/>
              </a:rPr>
              <a:t>관측식과 오차함수는 동일하다. Qₛ의 정의만 바뀐다.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9224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3606B"/>
                </a:solidFill>
                <a:latin typeface="NanumGothic"/>
              </a:rPr>
              <a:t>MULTI-CAMERA CALIBRATION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06B"/>
                </a:solidFill>
                <a:latin typeface="Nanum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374AB"/>
                </a:solidFill>
                <a:latin typeface="NanumGothic"/>
              </a:rPr>
              <a:t>05 · FK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12B"/>
                </a:solidFill>
                <a:latin typeface="NanumGothic"/>
              </a:rPr>
              <a:t>세 가지 FK 방식의 전체 그림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16152"/>
            <a:ext cx="566928" cy="41148"/>
          </a:xfrm>
          <a:prstGeom prst="rect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645920"/>
            <a:ext cx="34290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7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45920"/>
            <a:ext cx="3429000" cy="64008"/>
          </a:xfrm>
          <a:prstGeom prst="rect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20240"/>
            <a:ext cx="2926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374AB"/>
                </a:solidFill>
                <a:latin typeface="NanumGothic"/>
              </a:rPr>
              <a:t>No-FK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87168"/>
            <a:ext cx="2926080" cy="1691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NanumGothic"/>
              </a:rPr>
              <a:t>큐브 FK prior를 사용하지 않는다. 큐브 자세도 카메라와 hand–eye와 함께 직접 찾는다.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4709160"/>
            <a:ext cx="2880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7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rd_no_f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624" y="4791456"/>
            <a:ext cx="2270487" cy="49377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379976" y="1645920"/>
            <a:ext cx="34290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7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9976" y="1645920"/>
            <a:ext cx="3429000" cy="64008"/>
          </a:xfrm>
          <a:prstGeom prst="rect">
            <a:avLst/>
          </a:prstGeom>
          <a:solidFill>
            <a:srgbClr val="D1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920240"/>
            <a:ext cx="2926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17A22"/>
                </a:solidFill>
                <a:latin typeface="NanumGothic"/>
              </a:rPr>
              <a:t>Fixed-FK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487168"/>
            <a:ext cx="2926080" cy="1691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NanumGothic"/>
              </a:rPr>
              <a:t>raw FK를 정답으로 가정한다. 큐브 자세는 움직이지 못하고 다른 미지수만 조정된다.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54296" y="4709160"/>
            <a:ext cx="2880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7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ard_fixed_f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780" y="4791456"/>
            <a:ext cx="1303390" cy="49377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101583" y="1645920"/>
            <a:ext cx="34290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1583" y="1645920"/>
            <a:ext cx="3429000" cy="64008"/>
          </a:xfrm>
          <a:prstGeom prst="rect">
            <a:avLst/>
          </a:prstGeom>
          <a:solidFill>
            <a:srgbClr val="2F7D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1920240"/>
            <a:ext cx="2926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7D67"/>
                </a:solidFill>
                <a:latin typeface="NanumGothic"/>
              </a:rPr>
              <a:t>Corrected-FK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2487168"/>
            <a:ext cx="2926080" cy="1691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NanumGothic"/>
              </a:rPr>
              <a:t>vision으로 raw FK의 공통 오정렬을 보정하고, 검증된 정보만 섞어 anchor를 만든다.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75904" y="4709160"/>
            <a:ext cx="2880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ard_corrected_f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1043" y="4791456"/>
            <a:ext cx="1330081" cy="49377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5800" y="649224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3606B"/>
                </a:solidFill>
                <a:latin typeface="NanumGothic"/>
              </a:rPr>
              <a:t>MULTI-CAMERA CALIBRATION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06B"/>
                </a:solidFill>
                <a:latin typeface="Nanum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374AB"/>
                </a:solidFill>
                <a:latin typeface="NanumGothic"/>
              </a:rPr>
              <a:t>05 · METHOD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12B"/>
                </a:solidFill>
                <a:latin typeface="NanumGothic"/>
              </a:rPr>
              <a:t>No-FK · 큐브 자세도 자유변수로 함께 찾는다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16152"/>
            <a:ext cx="566928" cy="41148"/>
          </a:xfrm>
          <a:prstGeom prst="rect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35640" cy="1143000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237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ofk_obj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384" y="1591055"/>
            <a:ext cx="7164471" cy="9784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417320" y="3063240"/>
            <a:ext cx="2011680" cy="530352"/>
          </a:xfrm>
          <a:prstGeom prst="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2184" y="3127248"/>
            <a:ext cx="190195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374AB"/>
                </a:solidFill>
                <a:latin typeface="NanumGothic"/>
              </a:rPr>
              <a:t>변수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3063240"/>
            <a:ext cx="2468880" cy="530352"/>
          </a:xfrm>
          <a:prstGeom prst="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3864" y="3127248"/>
            <a:ext cx="235915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F7D67"/>
                </a:solidFill>
                <a:latin typeface="NanumGothic"/>
              </a:rPr>
              <a:t>움직일 수 있나?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3063240"/>
            <a:ext cx="4937760" cy="530352"/>
          </a:xfrm>
          <a:prstGeom prst="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52744" y="3127248"/>
            <a:ext cx="482803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5B6B7A"/>
                </a:solidFill>
                <a:latin typeface="NanumGothic"/>
              </a:rPr>
              <a:t>역할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7320" y="3593592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72184" y="3657600"/>
            <a:ext cx="190195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Cᵢ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3593592"/>
            <a:ext cx="2468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3864" y="3657600"/>
            <a:ext cx="235915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Yes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3593592"/>
            <a:ext cx="4937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2744" y="3657600"/>
            <a:ext cx="482803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고정 카메라 위치/방향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17320" y="4123944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72184" y="4187952"/>
            <a:ext cx="190195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4123944"/>
            <a:ext cx="2468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83864" y="4187952"/>
            <a:ext cx="235915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Yes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97880" y="4123944"/>
            <a:ext cx="4937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52744" y="4187952"/>
            <a:ext cx="482803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hand–eye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654296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72184" y="4718304"/>
            <a:ext cx="190195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Oₛ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4654296"/>
            <a:ext cx="2468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83864" y="4718304"/>
            <a:ext cx="235915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4654296"/>
            <a:ext cx="4937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52744" y="4718304"/>
            <a:ext cx="482803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set별 큐브 자세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17320" y="5184648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72184" y="5248656"/>
            <a:ext cx="190195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Fₛ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29000" y="5184648"/>
            <a:ext cx="2468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83864" y="5248656"/>
            <a:ext cx="235915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사용 안 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97880" y="5184648"/>
            <a:ext cx="4937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52744" y="5248656"/>
            <a:ext cx="482803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큐브 FK prior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5623560"/>
            <a:ext cx="9601200" cy="5943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7212B"/>
                </a:solidFill>
                <a:latin typeface="NanumGothic"/>
              </a:defRPr>
            </a:pPr>
            <a:r>
              <a:t>•  장점: raw FK systematic 오차가 카메라 캘리브레이션으로 직접 전파되지 않음</a:t>
            </a:r>
          </a:p>
          <a:p>
            <a:pPr>
              <a:spcAft>
                <a:spcPts val="500"/>
              </a:spcAft>
              <a:defRPr sz="1400">
                <a:solidFill>
                  <a:srgbClr val="17212B"/>
                </a:solidFill>
                <a:latin typeface="NanumGothic"/>
              </a:defRPr>
            </a:pPr>
            <a:r>
              <a:t>•  주의: 미지수가 많고 관측 구성이 약하면 해가 흔들릴 수 있음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49224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3606B"/>
                </a:solidFill>
                <a:latin typeface="NanumGothic"/>
              </a:rPr>
              <a:t>MULTI-CAMERA CALIBRATION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06B"/>
                </a:solidFill>
                <a:latin typeface="Nanum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374AB"/>
                </a:solidFill>
                <a:latin typeface="NanumGothic"/>
              </a:rPr>
              <a:t>05 · METHOD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12B"/>
                </a:solidFill>
                <a:latin typeface="NanumGothic"/>
              </a:rPr>
              <a:t>Fixed-FK · raw FK에 큐브 자세를 못 박는다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16152"/>
            <a:ext cx="566928" cy="41148"/>
          </a:xfrm>
          <a:prstGeom prst="rect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2560320" cy="777240"/>
          </a:xfrm>
          <a:prstGeom prst="roundRect">
            <a:avLst/>
          </a:prstGeom>
          <a:solidFill>
            <a:srgbClr val="FBF0E5"/>
          </a:solidFill>
          <a:ln w="12700">
            <a:solidFill>
              <a:srgbClr val="D17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xed_constra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887" y="1591056"/>
            <a:ext cx="1794465" cy="61264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57600" y="1508760"/>
            <a:ext cx="7726679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7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xed_obje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2002" y="1591055"/>
            <a:ext cx="3817875" cy="6126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097280" y="2788920"/>
            <a:ext cx="9966960" cy="1325880"/>
          </a:xfrm>
          <a:prstGeom prst="roundRect">
            <a:avLst/>
          </a:prstGeom>
          <a:solidFill>
            <a:srgbClr val="FBF0E5"/>
          </a:solidFill>
          <a:ln w="12700">
            <a:solidFill>
              <a:srgbClr val="D17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3090672"/>
            <a:ext cx="914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17A22"/>
                </a:solidFill>
                <a:latin typeface="NanumGothic"/>
              </a:rPr>
              <a:t>예시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999232"/>
            <a:ext cx="3657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7212B"/>
                </a:solidFill>
                <a:latin typeface="NanumGothic"/>
              </a:rPr>
              <a:t>실제 큐브 100 mm · raw FK 110 mm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999232"/>
            <a:ext cx="548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D17A22"/>
                </a:solidFill>
                <a:latin typeface="Nanum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971800"/>
            <a:ext cx="37947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C46A4A"/>
                </a:solidFill>
                <a:latin typeface="NanumGothic"/>
              </a:rPr>
              <a:t>남은 10 mm를 카메라 또는 hand–eye가 흡수할 수 있음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7320" y="4617720"/>
            <a:ext cx="2743200" cy="530352"/>
          </a:xfrm>
          <a:prstGeom prst="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72184" y="4681728"/>
            <a:ext cx="263347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D17A22"/>
                </a:solidFill>
                <a:latin typeface="NanumGothic"/>
              </a:rPr>
              <a:t>FK 상태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4617720"/>
            <a:ext cx="6675120" cy="530352"/>
          </a:xfrm>
          <a:prstGeom prst="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15383" y="4681728"/>
            <a:ext cx="656539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5B6B7A"/>
                </a:solidFill>
                <a:latin typeface="NanumGothic"/>
              </a:rPr>
              <a:t>장점 / 위험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7320" y="5148072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72184" y="5212080"/>
            <a:ext cx="263347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정확함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5148072"/>
            <a:ext cx="6675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15383" y="5212080"/>
            <a:ext cx="656539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미지수가 줄어 강하고 안정적인 기준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17320" y="5678424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72184" y="5742432"/>
            <a:ext cx="263347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systematic 오차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5678424"/>
            <a:ext cx="6675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15383" y="5742432"/>
            <a:ext cx="656539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7212B"/>
                </a:solidFill>
                <a:latin typeface="NanumGothic"/>
              </a:rPr>
              <a:t>오차가 카메라·hand–eye로 전파될 위험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9224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3606B"/>
                </a:solidFill>
                <a:latin typeface="NanumGothic"/>
              </a:rPr>
              <a:t>MULTI-CAMERA CALIBRATION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06B"/>
                </a:solidFill>
                <a:latin typeface="Nanum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374AB"/>
                </a:solidFill>
                <a:latin typeface="NanumGothic"/>
              </a:rPr>
              <a:t>05 · METHOD 3 · INTUITION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12B"/>
                </a:solidFill>
                <a:latin typeface="NanumGothic"/>
              </a:rPr>
              <a:t>Corrected-FK · raw FK를 고쳐서 사용한다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16152"/>
            <a:ext cx="566928" cy="41148"/>
          </a:xfrm>
          <a:prstGeom prst="rect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25420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7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01952"/>
            <a:ext cx="22128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374AB"/>
                </a:solidFill>
                <a:latin typeface="NanumGothic"/>
              </a:rPr>
              <a:t>①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2176272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7212B"/>
                </a:solidFill>
                <a:latin typeface="NanumGothic"/>
              </a:rPr>
              <a:t>No-FK 1차 해로 Vₛ 계산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5420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901952"/>
            <a:ext cx="22128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8064A2"/>
                </a:solidFill>
                <a:latin typeface="NanumGothic"/>
              </a:rPr>
              <a:t>② Difference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514600"/>
            <a:ext cx="2176272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7212B"/>
                </a:solidFill>
                <a:latin typeface="NanumGothic"/>
              </a:rPr>
              <a:t>Δₛ = Fₛ⁻¹Vₛ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45920"/>
            <a:ext cx="25420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1901952"/>
            <a:ext cx="22128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2F7D67"/>
                </a:solidFill>
                <a:latin typeface="NanumGothic"/>
              </a:rPr>
              <a:t>③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514600"/>
            <a:ext cx="2176272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7212B"/>
                </a:solidFill>
                <a:latin typeface="NanumGothic"/>
              </a:rPr>
              <a:t>Fₛᶜᵒʳʳ = FₛΔ̄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1645920"/>
            <a:ext cx="2542032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7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17151" y="1901952"/>
            <a:ext cx="22128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D17A22"/>
                </a:solidFill>
                <a:latin typeface="NanumGothic"/>
              </a:rPr>
              <a:t>④ Guard &amp; Blend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39" y="2514600"/>
            <a:ext cx="2176272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7212B"/>
                </a:solidFill>
                <a:latin typeface="NanumGothic"/>
              </a:rPr>
              <a:t>검증 후 Aₛ 생성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977639"/>
            <a:ext cx="11018520" cy="1051560"/>
          </a:xfrm>
          <a:prstGeom prst="roundRect">
            <a:avLst/>
          </a:prstGeom>
          <a:solidFill>
            <a:srgbClr val="EAF4F0"/>
          </a:solidFill>
          <a:ln w="12700">
            <a:solidFill>
              <a:srgbClr val="2F7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orr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201681"/>
            <a:ext cx="10799064" cy="603477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417320" y="5440680"/>
            <a:ext cx="9372600" cy="59436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5596128"/>
            <a:ext cx="8915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7212B"/>
                </a:solidFill>
                <a:latin typeface="NanumGothic"/>
              </a:rPr>
              <a:t>안 믿기(No-FK)와 그대로 믿기(Fixed-FK) 사이: vision으로 검증하고 25%만 혼합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9224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3606B"/>
                </a:solidFill>
                <a:latin typeface="NanumGothic"/>
              </a:rPr>
              <a:t>MULTI-CAMERA CALIBRATION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06B"/>
                </a:solidFill>
                <a:latin typeface="Nanum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374AB"/>
                </a:solidFill>
                <a:latin typeface="NanumGothic"/>
              </a:rPr>
              <a:t>06 · DETAILED 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12B"/>
                </a:solidFill>
                <a:latin typeface="NanumGothic"/>
              </a:rPr>
              <a:t>Corrected-FK · gate와 최종 목적함수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16152"/>
            <a:ext cx="566928" cy="41148"/>
          </a:xfrm>
          <a:prstGeom prst="rect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27080" cy="868680"/>
          </a:xfrm>
          <a:prstGeom prst="roundRect">
            <a:avLst/>
          </a:prstGeom>
          <a:solidFill>
            <a:srgbClr val="FBF0E5"/>
          </a:solidFill>
          <a:ln w="12700">
            <a:solidFill>
              <a:srgbClr val="D17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523086"/>
            <a:ext cx="10707624" cy="6571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2606040"/>
            <a:ext cx="10927080" cy="1325880"/>
          </a:xfrm>
          <a:prstGeom prst="roundRect">
            <a:avLst/>
          </a:prstGeom>
          <a:solidFill>
            <a:srgbClr val="EAF4F0"/>
          </a:solidFill>
          <a:ln w="12700">
            <a:solidFill>
              <a:srgbClr val="2F7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uarded_anch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001114"/>
            <a:ext cx="10707624" cy="53573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4251960"/>
            <a:ext cx="10927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7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rr_objec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2124" y="4334256"/>
            <a:ext cx="4482990" cy="70408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417320" y="5285232"/>
            <a:ext cx="2743200" cy="292608"/>
          </a:xfrm>
          <a:prstGeom prst="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72184" y="5349240"/>
            <a:ext cx="2633472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2F7D67"/>
                </a:solidFill>
                <a:latin typeface="NanumGothic"/>
              </a:rPr>
              <a:t>구현 상세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5285232"/>
            <a:ext cx="6675120" cy="292608"/>
          </a:xfrm>
          <a:prstGeom prst="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15383" y="5349240"/>
            <a:ext cx="6565392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5B6B7A"/>
                </a:solidFill>
                <a:latin typeface="NanumGothic"/>
              </a:rPr>
              <a:t>정책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17320" y="5577840"/>
            <a:ext cx="2743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72184" y="5641848"/>
            <a:ext cx="2633472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NanumGothic"/>
              </a:rPr>
              <a:t>set 평균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5577840"/>
            <a:ext cx="6675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15383" y="5641848"/>
            <a:ext cx="6565392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NanumGothic"/>
              </a:rPr>
              <a:t>관측 수 가중 + MAD 이상치 제거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17320" y="5870448"/>
            <a:ext cx="2743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72184" y="5934456"/>
            <a:ext cx="2633472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NanumGothic"/>
              </a:rPr>
              <a:t>이동 blend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5870448"/>
            <a:ext cx="6675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15383" y="5934456"/>
            <a:ext cx="6565392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NanumGothic"/>
              </a:rPr>
              <a:t>(1−α)t(Vₛ)+αt(Fₛᶜᵒʳʳ)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17320" y="6163056"/>
            <a:ext cx="2743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72184" y="6227064"/>
            <a:ext cx="2633472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NanumGothic"/>
              </a:rPr>
              <a:t>회전 blend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6163056"/>
            <a:ext cx="6675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15383" y="6227064"/>
            <a:ext cx="6565392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7212B"/>
                </a:solidFill>
                <a:latin typeface="NanumGothic"/>
              </a:rPr>
              <a:t>가중합 후 SVD로 SO(3)에 투영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9224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3606B"/>
                </a:solidFill>
                <a:latin typeface="NanumGothic"/>
              </a:rPr>
              <a:t>MULTI-CAMERA CALIBRATION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06B"/>
                </a:solidFill>
                <a:latin typeface="Nanum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374AB"/>
                </a:solidFill>
                <a:latin typeface="NanumGothic"/>
              </a:rPr>
              <a:t>07 · EXPERIMENTAL AXES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12B"/>
                </a:solidFill>
                <a:latin typeface="NanumGothic"/>
              </a:rPr>
              <a:t>FK 방식 외의 실험 축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16152"/>
            <a:ext cx="566928" cy="41148"/>
          </a:xfrm>
          <a:prstGeom prst="rect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5074920" cy="384048"/>
          </a:xfrm>
          <a:prstGeom prst="rect">
            <a:avLst/>
          </a:prstGeom>
          <a:solidFill>
            <a:srgbClr val="2374AB"/>
          </a:solidFill>
          <a:ln w="12700">
            <a:solidFill>
              <a:srgbClr val="237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17904"/>
            <a:ext cx="49286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anumGothic"/>
              </a:rPr>
              <a:t>Solver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057400"/>
            <a:ext cx="1554480" cy="685800"/>
          </a:xfrm>
          <a:prstGeom prst="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21408"/>
            <a:ext cx="1444752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374AB"/>
                </a:solidFill>
                <a:latin typeface="NanumGothic"/>
              </a:rPr>
              <a:t>조건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2057400"/>
            <a:ext cx="3520440" cy="685800"/>
          </a:xfrm>
          <a:prstGeom prst="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32304" y="2121408"/>
            <a:ext cx="3410712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B6B7A"/>
                </a:solidFill>
                <a:latin typeface="NanumGothic"/>
              </a:rPr>
              <a:t>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743200"/>
            <a:ext cx="1554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807208"/>
            <a:ext cx="1444752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7212B"/>
                </a:solidFill>
                <a:latin typeface="NanumGothic"/>
              </a:rPr>
              <a:t>Unified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743200"/>
            <a:ext cx="3520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32304" y="2807208"/>
            <a:ext cx="3410712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7212B"/>
                </a:solidFill>
                <a:latin typeface="NanumGothic"/>
              </a:rPr>
              <a:t>고정/그리퍼 subsystem을 하나의 문제로 동시 계산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429000"/>
            <a:ext cx="1554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493008"/>
            <a:ext cx="1444752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7212B"/>
                </a:solidFill>
                <a:latin typeface="NanumGothic"/>
              </a:rPr>
              <a:t>Independent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3429000"/>
            <a:ext cx="3520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32304" y="3493008"/>
            <a:ext cx="3410712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7212B"/>
                </a:solidFill>
                <a:latin typeface="NanumGothic"/>
              </a:rPr>
              <a:t>각 subsystem을 따로 계산한 뒤 공통 타깃으로 정렬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463040"/>
            <a:ext cx="5074920" cy="384048"/>
          </a:xfrm>
          <a:prstGeom prst="rect">
            <a:avLst/>
          </a:prstGeom>
          <a:solidFill>
            <a:srgbClr val="2F7D67"/>
          </a:solidFill>
          <a:ln w="12700">
            <a:solidFill>
              <a:srgbClr val="2F7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517904"/>
            <a:ext cx="492861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anumGothic"/>
              </a:rPr>
              <a:t>Target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057400"/>
            <a:ext cx="1554480" cy="566928"/>
          </a:xfrm>
          <a:prstGeom prst="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121408"/>
            <a:ext cx="1444752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F7D67"/>
                </a:solidFill>
                <a:latin typeface="NanumGothic"/>
              </a:rPr>
              <a:t>조건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2057400"/>
            <a:ext cx="3520440" cy="566928"/>
          </a:xfrm>
          <a:prstGeom prst="rect">
            <a:avLst/>
          </a:prstGeom>
          <a:solidFill>
            <a:srgbClr val="F3F5F6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18704" y="2121408"/>
            <a:ext cx="3410712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B6B7A"/>
                </a:solidFill>
                <a:latin typeface="NanumGothic"/>
              </a:rPr>
              <a:t>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624328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2688336"/>
            <a:ext cx="1444752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7212B"/>
                </a:solidFill>
                <a:latin typeface="NanumGothic"/>
              </a:rPr>
              <a:t>Board-only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2624328"/>
            <a:ext cx="3520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18704" y="2688336"/>
            <a:ext cx="3410712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7212B"/>
                </a:solidFill>
                <a:latin typeface="NanumGothic"/>
              </a:rPr>
              <a:t>평면 ChArUco 보드만 사용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191256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3255264"/>
            <a:ext cx="1444752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7212B"/>
                </a:solidFill>
                <a:latin typeface="NanumGothic"/>
              </a:rPr>
              <a:t>Cube-only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3191256"/>
            <a:ext cx="3520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18704" y="3255264"/>
            <a:ext cx="3410712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7212B"/>
                </a:solidFill>
                <a:latin typeface="NanumGothic"/>
              </a:rPr>
              <a:t>다면 AprilTag 큐브만 사용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758184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4224" y="3822192"/>
            <a:ext cx="1444752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7212B"/>
                </a:solidFill>
                <a:latin typeface="NanumGothic"/>
              </a:rPr>
              <a:t>Both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3758184"/>
            <a:ext cx="3520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18704" y="3822192"/>
            <a:ext cx="3410712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7212B"/>
                </a:solidFill>
                <a:latin typeface="NanumGothic"/>
              </a:rPr>
              <a:t>큐브와 보드 관측을 함께 사용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1560" y="5166360"/>
            <a:ext cx="10104120" cy="749808"/>
          </a:xfrm>
          <a:prstGeom prst="roundRect">
            <a:avLst/>
          </a:prstGeom>
          <a:solidFill>
            <a:srgbClr val="FBF0E5"/>
          </a:solidFill>
          <a:ln w="12700">
            <a:solidFill>
              <a:srgbClr val="D17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5376672"/>
            <a:ext cx="9646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D17A22"/>
                </a:solidFill>
                <a:latin typeface="NanumGothic"/>
              </a:rPr>
              <a:t>유효 조합은 14개: board-only에는 큐브 FK prior가 없어 fixed/corr를 정의하지 않음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49224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3606B"/>
                </a:solidFill>
                <a:latin typeface="NanumGothic"/>
              </a:rPr>
              <a:t>MULTI-CAMERA CALIBRATION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06B"/>
                </a:solidFill>
                <a:latin typeface="NanumGothi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374AB"/>
                </a:solidFill>
                <a:latin typeface="NanumGothic"/>
              </a:rPr>
              <a:t>08 ·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12B"/>
                </a:solidFill>
                <a:latin typeface="NanumGothic"/>
              </a:rPr>
              <a:t>평가할 때 반드시 구분할 것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16152"/>
            <a:ext cx="566928" cy="41148"/>
          </a:xfrm>
          <a:prstGeom prst="rect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645920"/>
            <a:ext cx="34290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7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45920"/>
            <a:ext cx="3429000" cy="64008"/>
          </a:xfrm>
          <a:prstGeom prst="rect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20240"/>
            <a:ext cx="2926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374AB"/>
                </a:solidFill>
                <a:latin typeface="NanumGothic"/>
              </a:rPr>
              <a:t>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87168"/>
            <a:ext cx="2926080" cy="1691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NanumGothic"/>
              </a:rPr>
              <a:t>생성할 때 실제 카메라와 큐브 자세를 알고 있다. e_X, e_task, e_rel을 외부 ground truth와 직접 비교할 수 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4709160"/>
            <a:ext cx="2880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74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rd_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5" y="4846371"/>
            <a:ext cx="2660904" cy="3839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379976" y="1645920"/>
            <a:ext cx="34290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9976" y="1645920"/>
            <a:ext cx="3429000" cy="64008"/>
          </a:xfrm>
          <a:prstGeom prst="rect">
            <a:avLst/>
          </a:prstGeom>
          <a:solidFill>
            <a:srgbClr val="5B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920240"/>
            <a:ext cx="2926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5B6B7A"/>
                </a:solidFill>
                <a:latin typeface="NanumGothic"/>
              </a:rPr>
              <a:t>Real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487168"/>
            <a:ext cx="2926080" cy="1691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NanumGothic"/>
              </a:rPr>
              <a:t>재투영 오차와 cross-camera consistency로 내부 일관성을 평가한다. 서로 다른 성능 측면이므로 지표를 구분한다.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54296" y="4709160"/>
            <a:ext cx="2880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6B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ard_real 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4" y="4877458"/>
            <a:ext cx="2660904" cy="32177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101583" y="1645920"/>
            <a:ext cx="34290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7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1583" y="1645920"/>
            <a:ext cx="3429000" cy="64008"/>
          </a:xfrm>
          <a:prstGeom prst="rect">
            <a:avLst/>
          </a:prstGeom>
          <a:solidFill>
            <a:srgbClr val="D1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1920240"/>
            <a:ext cx="2926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17A22"/>
                </a:solidFill>
                <a:latin typeface="NanumGothic"/>
              </a:rPr>
              <a:t>FK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2487168"/>
            <a:ext cx="2926080" cy="1691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7212B"/>
                </a:solidFill>
                <a:latin typeface="NanumGothic"/>
              </a:rPr>
              <a:t>C1 held-out 위치 평가는 로봇 FK 큐브 중심을 proxy로 사용한다. FK와의 agreement이지 절대 물리 정확도는 아니다.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75904" y="4709160"/>
            <a:ext cx="2880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7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ard_fk prox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4900005"/>
            <a:ext cx="2660904" cy="27667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5800" y="649224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3606B"/>
                </a:solidFill>
                <a:latin typeface="NanumGothic"/>
              </a:rPr>
              <a:t>MULTI-CAMERA CALIBRATION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06B"/>
                </a:solidFill>
                <a:latin typeface="NanumGothi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374AB"/>
                </a:solidFill>
                <a:latin typeface="NanumGothic"/>
              </a:rPr>
              <a:t>09 ·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7212B"/>
                </a:solidFill>
                <a:latin typeface="NanumGothic"/>
              </a:rPr>
              <a:t>한 장으로 다시 보는 핵심 수식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16152"/>
            <a:ext cx="566928" cy="41148"/>
          </a:xfrm>
          <a:prstGeom prst="rect">
            <a:avLst/>
          </a:prstGeom>
          <a:solidFill>
            <a:srgbClr val="2374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109960" cy="91440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B8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ummary_comm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606" y="1453895"/>
            <a:ext cx="6472026" cy="7498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2606040"/>
            <a:ext cx="107442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ummary_c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377950"/>
            <a:ext cx="10524744" cy="42213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14400" y="4983480"/>
            <a:ext cx="10332720" cy="804672"/>
          </a:xfrm>
          <a:prstGeom prst="roundRect">
            <a:avLst/>
          </a:prstGeom>
          <a:solidFill>
            <a:srgbClr val="EAF4F0"/>
          </a:solidFill>
          <a:ln w="12700">
            <a:solidFill>
              <a:srgbClr val="2F7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212080"/>
            <a:ext cx="9784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2F7D67"/>
                </a:solidFill>
                <a:latin typeface="NanumGothic"/>
              </a:rPr>
              <a:t>No-FK는 직접 찾고 · Fixed-FK는 못 박고 · Corrected-FK는 고쳐서 섞는다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598932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3606B"/>
                </a:solidFill>
                <a:latin typeface="NanumGothic"/>
              </a:rPr>
              <a:t>세 방법의 관측식과 오차함수는 같고, 공통 큐브 자세 Qₛ의 정의만 다르다.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92240"/>
            <a:ext cx="36576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3606B"/>
                </a:solidFill>
                <a:latin typeface="NanumGothic"/>
              </a:rPr>
              <a:t>MULTI-CAMERA CALIBRATION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3606B"/>
                </a:solidFill>
                <a:latin typeface="NanumGothic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멀티카메라 캘리브레이션과 세 가지 FK 방식</dc:title>
  <dc:subject>Text and LaTeX equation-first teaching deck</dc:subject>
  <dc:creator>rb-calibration-marker-experiment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